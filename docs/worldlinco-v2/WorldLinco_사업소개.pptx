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orldlinco_ad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347" y="0"/>
            <a:ext cx="10287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E3F0FF"/>
            </a:gs>
            <a:gs pos="100000">
              <a:srgbClr val="FFFFFF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E5E"/>
                </a:solidFill>
                <a:latin typeface="맑은 고딕"/>
                <a:ea typeface="맑은 고딕"/>
              </a:rPr>
              <a:t>WorldLinco — 언어의 벽을 넘어, 세상을 연결합니다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  <a:latin typeface="맑은 고딕"/>
                <a:ea typeface="맑은 고딕"/>
              </a:rPr>
              <a:t>실시간 AI 통역 슈퍼앱 · 대면·통화·채팅·노래·여행을 하나로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286000"/>
            <a:ext cx="512064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45720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8A5B"/>
                </a:solidFill>
                <a:latin typeface="맑은 고딕"/>
                <a:ea typeface="맑은 고딕"/>
              </a:rPr>
              <a:t>문제</a:t>
            </a:r>
          </a:p>
          <a:p>
            <a:pPr algn="l"/>
            <a:r>
              <a:rPr sz="1500" b="0">
                <a:solidFill>
                  <a:srgbClr val="1A1F36"/>
                </a:solidFill>
                <a:latin typeface="맑은 고딕"/>
                <a:ea typeface="맑은 고딕"/>
              </a:rPr>
              <a:t>· 해외 여행·외국인 응대 시 언어 장벽으로 소통 단절</a:t>
            </a:r>
          </a:p>
          <a:p>
            <a:pPr algn="l"/>
            <a:r>
              <a:rPr sz="1500" b="0">
                <a:solidFill>
                  <a:srgbClr val="1A1F36"/>
                </a:solidFill>
                <a:latin typeface="맑은 고딕"/>
                <a:ea typeface="맑은 고딕"/>
              </a:rPr>
              <a:t>· 통역 앱은 분절적(번역기 ≠ 통화 ≠ 채팅)이고 지연이 큼</a:t>
            </a:r>
          </a:p>
          <a:p>
            <a:pPr algn="l"/>
            <a:r>
              <a:rPr sz="1500" b="0">
                <a:solidFill>
                  <a:srgbClr val="1A1F36"/>
                </a:solidFill>
                <a:latin typeface="맑은 고딕"/>
                <a:ea typeface="맑은 고딕"/>
              </a:rPr>
              <a:t>· 개인화된 통역 비서 부재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2286000"/>
            <a:ext cx="512064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2560320"/>
            <a:ext cx="45720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9C37D"/>
                </a:solidFill>
                <a:latin typeface="맑은 고딕"/>
                <a:ea typeface="맑은 고딕"/>
              </a:rPr>
              <a:t>해결 — WorldLinco</a:t>
            </a:r>
          </a:p>
          <a:p>
            <a:pPr algn="l"/>
            <a:r>
              <a:rPr sz="1500" b="0">
                <a:solidFill>
                  <a:srgbClr val="1A1F36"/>
                </a:solidFill>
                <a:latin typeface="맑은 고딕"/>
                <a:ea typeface="맑은 고딕"/>
              </a:rPr>
              <a:t>· 초저지연 실시간 통역 파이프라인</a:t>
            </a:r>
          </a:p>
          <a:p>
            <a:pPr algn="l"/>
            <a:r>
              <a:rPr sz="1500" b="0">
                <a:solidFill>
                  <a:srgbClr val="1A1F36"/>
                </a:solidFill>
                <a:latin typeface="맑은 고딕"/>
                <a:ea typeface="맑은 고딕"/>
              </a:rPr>
              <a:t>· 대면·VoIP·채팅·노래·예약 통합 채널</a:t>
            </a:r>
          </a:p>
          <a:p>
            <a:pPr algn="l"/>
            <a:r>
              <a:rPr sz="1500" b="0">
                <a:solidFill>
                  <a:srgbClr val="1A1F36"/>
                </a:solidFill>
                <a:latin typeface="맑은 고딕"/>
                <a:ea typeface="맑은 고딕"/>
              </a:rPr>
              <a:t>· 소리새: 기억·성격을 가진 개인 AI 동반자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E3F0FF"/>
            </a:gs>
            <a:gs pos="100000">
              <a:srgbClr val="FFFFFF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E5E"/>
                </a:solidFill>
                <a:latin typeface="맑은 고딕"/>
                <a:ea typeface="맑은 고딕"/>
              </a:rPr>
              <a:t>핵심 기능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3456432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28016" cy="2240280"/>
          </a:xfrm>
          <a:prstGeom prst="roundRect">
            <a:avLst/>
          </a:prstGeom>
          <a:solidFill>
            <a:srgbClr val="1E6FE0"/>
          </a:solidFill>
          <a:ln w="12700">
            <a:solidFill>
              <a:srgbClr val="1E6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737360"/>
            <a:ext cx="290779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E6FE0"/>
                </a:solidFill>
                <a:latin typeface="맑은 고딕"/>
                <a:ea typeface="맑은 고딕"/>
              </a:rPr>
              <a:t>① 대면 통역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377440"/>
            <a:ext cx="2907792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1F36"/>
                </a:solidFill>
                <a:latin typeface="맑은 고딕"/>
                <a:ea typeface="맑은 고딕"/>
              </a:rPr>
              <a:t>마주보고 자동 언어감지 · 화면 분할 양방향 실시간 통역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0832" y="1463040"/>
            <a:ext cx="3456432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70832" y="1463040"/>
            <a:ext cx="128016" cy="2240280"/>
          </a:xfrm>
          <a:prstGeom prst="roundRect">
            <a:avLst/>
          </a:prstGeom>
          <a:solidFill>
            <a:srgbClr val="1E6FE0"/>
          </a:solidFill>
          <a:ln w="12700">
            <a:solidFill>
              <a:srgbClr val="1E6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36592" y="1737360"/>
            <a:ext cx="290779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E6FE0"/>
                </a:solidFill>
                <a:latin typeface="맑은 고딕"/>
                <a:ea typeface="맑은 고딕"/>
              </a:rPr>
              <a:t>② 소리새 AI 동반자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36592" y="2377440"/>
            <a:ext cx="2907792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1F36"/>
                </a:solidFill>
                <a:latin typeface="맑은 고딕"/>
                <a:ea typeface="맑은 고딕"/>
              </a:rPr>
              <a:t>웨이크워드 호출 · 기억·성격을 가진 개인 AI 통역 비서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10144" y="1463040"/>
            <a:ext cx="3456432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10144" y="1463040"/>
            <a:ext cx="128016" cy="2240280"/>
          </a:xfrm>
          <a:prstGeom prst="roundRect">
            <a:avLst/>
          </a:prstGeom>
          <a:solidFill>
            <a:srgbClr val="0B2E5E"/>
          </a:solidFill>
          <a:ln w="12700">
            <a:solidFill>
              <a:srgbClr val="0B2E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75904" y="1737360"/>
            <a:ext cx="290779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B2E5E"/>
                </a:solidFill>
                <a:latin typeface="맑은 고딕"/>
                <a:ea typeface="맑은 고딕"/>
              </a:rPr>
              <a:t>③ VoIP 통역 통화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75904" y="2377440"/>
            <a:ext cx="2907792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1F36"/>
                </a:solidFill>
                <a:latin typeface="맑은 고딕"/>
                <a:ea typeface="맑은 고딕"/>
              </a:rPr>
              <a:t>인터넷 음성통화에 실시간 자막 통역(원문+번역)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886200"/>
            <a:ext cx="3456432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1520" y="3886200"/>
            <a:ext cx="128016" cy="2240280"/>
          </a:xfrm>
          <a:prstGeom prst="roundRect">
            <a:avLst/>
          </a:prstGeom>
          <a:solidFill>
            <a:srgbClr val="1E6FE0"/>
          </a:solidFill>
          <a:ln w="12700">
            <a:solidFill>
              <a:srgbClr val="1E6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160520"/>
            <a:ext cx="290779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E6FE0"/>
                </a:solidFill>
                <a:latin typeface="맑은 고딕"/>
                <a:ea typeface="맑은 고딕"/>
              </a:rPr>
              <a:t>④ 채팅 번역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800600"/>
            <a:ext cx="2907792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1F36"/>
                </a:solidFill>
                <a:latin typeface="맑은 고딕"/>
                <a:ea typeface="맑은 고딕"/>
              </a:rPr>
              <a:t>텍스트·음성 겸용 · 번역 말풍선 페어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70832" y="3886200"/>
            <a:ext cx="3456432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370832" y="3886200"/>
            <a:ext cx="128016" cy="2240280"/>
          </a:xfrm>
          <a:prstGeom prst="roundRect">
            <a:avLst/>
          </a:prstGeom>
          <a:solidFill>
            <a:srgbClr val="7C5CFC"/>
          </a:solidFill>
          <a:ln w="12700">
            <a:solidFill>
              <a:srgbClr val="7C5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36592" y="4160520"/>
            <a:ext cx="290779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7C5CFC"/>
                </a:solidFill>
                <a:latin typeface="맑은 고딕"/>
                <a:ea typeface="맑은 고딕"/>
              </a:rPr>
              <a:t>⑤ 노래 번역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36592" y="4800600"/>
            <a:ext cx="2907792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1F36"/>
                </a:solidFill>
                <a:latin typeface="맑은 고딕"/>
                <a:ea typeface="맑은 고딕"/>
              </a:rPr>
              <a:t>가사 라인별 원문/번역 동기화 재생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10144" y="3886200"/>
            <a:ext cx="3456432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10144" y="3886200"/>
            <a:ext cx="128016" cy="2240280"/>
          </a:xfrm>
          <a:prstGeom prst="roundRect">
            <a:avLst/>
          </a:prstGeom>
          <a:solidFill>
            <a:srgbClr val="19C37D"/>
          </a:solidFill>
          <a:ln w="12700">
            <a:solidFill>
              <a:srgbClr val="19C3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75904" y="4160520"/>
            <a:ext cx="290779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9C37D"/>
                </a:solidFill>
                <a:latin typeface="맑은 고딕"/>
                <a:ea typeface="맑은 고딕"/>
              </a:rPr>
              <a:t>⑥ 예약·일반전화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75904" y="4800600"/>
            <a:ext cx="2907792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1F36"/>
                </a:solidFill>
                <a:latin typeface="맑은 고딕"/>
                <a:ea typeface="맑은 고딕"/>
              </a:rPr>
              <a:t>항공·호텔 예약 · PSTN 통화 보조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E3F0FF"/>
            </a:gs>
            <a:gs pos="100000">
              <a:srgbClr val="FFFFFF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B2E5E"/>
                </a:solidFill>
                <a:latin typeface="맑은 고딕"/>
                <a:ea typeface="맑은 고딕"/>
              </a:rPr>
              <a:t>하나의 디자인 — 소리새 하늘색 통합 UI</a:t>
            </a:r>
          </a:p>
        </p:txBody>
      </p:sp>
      <p:pic>
        <p:nvPicPr>
          <p:cNvPr id="3" name="Picture 2" descr="worldlinco_unified_sky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1700" y="1280160"/>
            <a:ext cx="781812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E3F0FF"/>
            </a:gs>
            <a:gs pos="100000">
              <a:srgbClr val="FFFFFF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E5E"/>
                </a:solidFill>
                <a:latin typeface="맑은 고딕"/>
                <a:ea typeface="맑은 고딕"/>
              </a:rPr>
              <a:t>주요 화면</a:t>
            </a:r>
          </a:p>
        </p:txBody>
      </p:sp>
      <p:pic>
        <p:nvPicPr>
          <p:cNvPr id="3" name="Picture 2" descr="worldlinco_screen_voip_sk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209800"/>
            <a:ext cx="3657600" cy="2438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5669280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0B2E5E"/>
                </a:solidFill>
                <a:latin typeface="맑은 고딕"/>
                <a:ea typeface="맑은 고딕"/>
              </a:rPr>
              <a:t>VoIP 통역 통화</a:t>
            </a:r>
          </a:p>
        </p:txBody>
      </p:sp>
      <p:pic>
        <p:nvPicPr>
          <p:cNvPr id="5" name="Picture 4" descr="worldlinco_screen_song_sk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2209800"/>
            <a:ext cx="3657600" cy="2438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251960" y="5669280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0B2E5E"/>
                </a:solidFill>
                <a:latin typeface="맑은 고딕"/>
                <a:ea typeface="맑은 고딕"/>
              </a:rPr>
              <a:t>노래 번역</a:t>
            </a:r>
          </a:p>
        </p:txBody>
      </p:sp>
      <p:pic>
        <p:nvPicPr>
          <p:cNvPr id="7" name="Picture 6" descr="worldlinco_screen_booking_sk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2209800"/>
            <a:ext cx="3657600" cy="2438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92440" y="5669280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0B2E5E"/>
                </a:solidFill>
                <a:latin typeface="맑은 고딕"/>
                <a:ea typeface="맑은 고딕"/>
              </a:rPr>
              <a:t>여행 예약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E3F0FF"/>
            </a:gs>
            <a:gs pos="100000">
              <a:srgbClr val="FFFFFF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E5E"/>
                </a:solidFill>
                <a:latin typeface="맑은 고딕"/>
                <a:ea typeface="맑은 고딕"/>
              </a:rPr>
              <a:t>사용 설명서 — 3단계로 통역 시작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645920"/>
            <a:ext cx="822960" cy="822960"/>
          </a:xfrm>
          <a:prstGeom prst="roundRect">
            <a:avLst/>
          </a:prstGeom>
          <a:solidFill>
            <a:srgbClr val="1E6FE0"/>
          </a:solidFill>
          <a:ln w="12700">
            <a:solidFill>
              <a:srgbClr val="1E6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20240" y="1600200"/>
            <a:ext cx="914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B2E5E"/>
                </a:solidFill>
                <a:latin typeface="맑은 고딕"/>
                <a:ea typeface="맑은 고딕"/>
              </a:rPr>
              <a:t>1. 언어 선택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2103120"/>
            <a:ext cx="9144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A1F36"/>
                </a:solidFill>
                <a:latin typeface="맑은 고딕"/>
                <a:ea typeface="맑은 고딕"/>
              </a:rPr>
              <a:t>내 언어와 상대 언어를 선택하거나 대면통역에서 자동 감지를 켭니다.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063240"/>
            <a:ext cx="822960" cy="822960"/>
          </a:xfrm>
          <a:prstGeom prst="roundRect">
            <a:avLst/>
          </a:prstGeom>
          <a:solidFill>
            <a:srgbClr val="1E6FE0"/>
          </a:solidFill>
          <a:ln w="12700">
            <a:solidFill>
              <a:srgbClr val="1E6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3017520"/>
            <a:ext cx="914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B2E5E"/>
                </a:solidFill>
                <a:latin typeface="맑은 고딕"/>
                <a:ea typeface="맑은 고딕"/>
              </a:rPr>
              <a:t>2. 말하기 / 입력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3520440"/>
            <a:ext cx="9144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A1F36"/>
                </a:solidFill>
                <a:latin typeface="맑은 고딕"/>
                <a:ea typeface="맑은 고딕"/>
              </a:rPr>
              <a:t>원형 마이크 버튼을 누르고 말하거나 채팅에 입력합니다.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480560"/>
            <a:ext cx="822960" cy="822960"/>
          </a:xfrm>
          <a:prstGeom prst="roundRect">
            <a:avLst/>
          </a:prstGeom>
          <a:solidFill>
            <a:srgbClr val="1E6FE0"/>
          </a:solidFill>
          <a:ln w="12700">
            <a:solidFill>
              <a:srgbClr val="1E6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4434840"/>
            <a:ext cx="914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B2E5E"/>
                </a:solidFill>
                <a:latin typeface="맑은 고딕"/>
                <a:ea typeface="맑은 고딕"/>
              </a:rPr>
              <a:t>3. 실시간 통역 확인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4937760"/>
            <a:ext cx="9144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A1F36"/>
                </a:solidFill>
                <a:latin typeface="맑은 고딕"/>
                <a:ea typeface="맑은 고딕"/>
              </a:rPr>
              <a:t>원문과 번역이 쌍으로 표시되고 음성으로 읽어줍니다.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E3F0FF"/>
            </a:gs>
            <a:gs pos="100000">
              <a:srgbClr val="FFFFFF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E5E"/>
                </a:solidFill>
                <a:latin typeface="맑은 고딕"/>
                <a:ea typeface="맑은 고딕"/>
              </a:rPr>
              <a:t>시스템 구조도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645920" y="1371600"/>
            <a:ext cx="88696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6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A1F36"/>
                </a:solidFill>
                <a:latin typeface="맑은 고딕"/>
                <a:ea typeface="맑은 고딕"/>
              </a:rPr>
              <a:t>클라이언트 (모바일 앱 · React Native / Expo)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45920" y="1371600"/>
            <a:ext cx="146304" cy="658368"/>
          </a:xfrm>
          <a:prstGeom prst="roundRect">
            <a:avLst/>
          </a:prstGeom>
          <a:solidFill>
            <a:srgbClr val="1E6FE0"/>
          </a:solidFill>
          <a:ln w="12700">
            <a:solidFill>
              <a:srgbClr val="1E6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own Arrow 4"/>
          <p:cNvSpPr/>
          <p:nvPr/>
        </p:nvSpPr>
        <p:spPr>
          <a:xfrm>
            <a:off x="5989320" y="2011680"/>
            <a:ext cx="228600" cy="128016"/>
          </a:xfrm>
          <a:prstGeom prst="down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645920" y="2139696"/>
            <a:ext cx="88696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6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A1F36"/>
                </a:solidFill>
                <a:latin typeface="맑은 고딕"/>
                <a:ea typeface="맑은 고딕"/>
              </a:rPr>
              <a:t>API 게이트웨이 (인증 · 라우팅 · 레이트리밋)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45920" y="2139696"/>
            <a:ext cx="146304" cy="658368"/>
          </a:xfrm>
          <a:prstGeom prst="roundRect">
            <a:avLst/>
          </a:prstGeom>
          <a:solidFill>
            <a:srgbClr val="1E6FE0"/>
          </a:solidFill>
          <a:ln w="12700">
            <a:solidFill>
              <a:srgbClr val="1E6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own Arrow 7"/>
          <p:cNvSpPr/>
          <p:nvPr/>
        </p:nvSpPr>
        <p:spPr>
          <a:xfrm>
            <a:off x="5989320" y="2779776"/>
            <a:ext cx="228600" cy="128016"/>
          </a:xfrm>
          <a:prstGeom prst="down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645920" y="2907792"/>
            <a:ext cx="88696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2E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A1F36"/>
                </a:solidFill>
                <a:latin typeface="맑은 고딕"/>
                <a:ea typeface="맑은 고딕"/>
              </a:rPr>
              <a:t>통신 오케스트레이터 (세션 · 채널 정책)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45920" y="2907792"/>
            <a:ext cx="146304" cy="658368"/>
          </a:xfrm>
          <a:prstGeom prst="roundRect">
            <a:avLst/>
          </a:prstGeom>
          <a:solidFill>
            <a:srgbClr val="0B2E5E"/>
          </a:solidFill>
          <a:ln w="12700">
            <a:solidFill>
              <a:srgbClr val="0B2E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own Arrow 10"/>
          <p:cNvSpPr/>
          <p:nvPr/>
        </p:nvSpPr>
        <p:spPr>
          <a:xfrm>
            <a:off x="5989320" y="3547872"/>
            <a:ext cx="228600" cy="128016"/>
          </a:xfrm>
          <a:prstGeom prst="down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645920" y="3675888"/>
            <a:ext cx="88696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2E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A1F36"/>
                </a:solidFill>
                <a:latin typeface="맑은 고딕"/>
                <a:ea typeface="맑은 고딕"/>
              </a:rPr>
              <a:t>기능 허브 — 대면 · VoIP · 채팅 · 노래 · 예약 · 소리새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45920" y="3675888"/>
            <a:ext cx="146304" cy="658368"/>
          </a:xfrm>
          <a:prstGeom prst="roundRect">
            <a:avLst/>
          </a:prstGeom>
          <a:solidFill>
            <a:srgbClr val="0B2E5E"/>
          </a:solidFill>
          <a:ln w="12700">
            <a:solidFill>
              <a:srgbClr val="0B2E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own Arrow 13"/>
          <p:cNvSpPr/>
          <p:nvPr/>
        </p:nvSpPr>
        <p:spPr>
          <a:xfrm>
            <a:off x="5989320" y="4315968"/>
            <a:ext cx="228600" cy="128016"/>
          </a:xfrm>
          <a:prstGeom prst="down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645920" y="4443984"/>
            <a:ext cx="88696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5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A1F36"/>
                </a:solidFill>
                <a:latin typeface="맑은 고딕"/>
                <a:ea typeface="맑은 고딕"/>
              </a:rPr>
              <a:t>지능 엔진 (STT · NMT · TTS · LLM 파이프라인)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645920" y="4443984"/>
            <a:ext cx="146304" cy="658368"/>
          </a:xfrm>
          <a:prstGeom prst="roundRect">
            <a:avLst/>
          </a:prstGeom>
          <a:solidFill>
            <a:srgbClr val="7C5CFC"/>
          </a:solidFill>
          <a:ln w="12700">
            <a:solidFill>
              <a:srgbClr val="7C5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own Arrow 16"/>
          <p:cNvSpPr/>
          <p:nvPr/>
        </p:nvSpPr>
        <p:spPr>
          <a:xfrm>
            <a:off x="5989320" y="5084064"/>
            <a:ext cx="228600" cy="128016"/>
          </a:xfrm>
          <a:prstGeom prst="down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645920" y="5212080"/>
            <a:ext cx="88696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5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A1F36"/>
                </a:solidFill>
                <a:latin typeface="맑은 고딕"/>
                <a:ea typeface="맑은 고딕"/>
              </a:rPr>
              <a:t>음성 파이프라인 (저지연 스트리밍 · WebRTC)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645920" y="5212080"/>
            <a:ext cx="146304" cy="658368"/>
          </a:xfrm>
          <a:prstGeom prst="roundRect">
            <a:avLst/>
          </a:prstGeom>
          <a:solidFill>
            <a:srgbClr val="7C5CFC"/>
          </a:solidFill>
          <a:ln w="12700">
            <a:solidFill>
              <a:srgbClr val="7C5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own Arrow 19"/>
          <p:cNvSpPr/>
          <p:nvPr/>
        </p:nvSpPr>
        <p:spPr>
          <a:xfrm>
            <a:off x="5989320" y="5852160"/>
            <a:ext cx="228600" cy="128016"/>
          </a:xfrm>
          <a:prstGeom prst="down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645920" y="5980176"/>
            <a:ext cx="88696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2E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A1F36"/>
                </a:solidFill>
                <a:latin typeface="맑은 고딕"/>
                <a:ea typeface="맑은 고딕"/>
              </a:rPr>
              <a:t>인프라 (GPU 컴퓨트 · 저장소 · 메시징 · 모니터링)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645920" y="5980176"/>
            <a:ext cx="146304" cy="658368"/>
          </a:xfrm>
          <a:prstGeom prst="roundRect">
            <a:avLst/>
          </a:prstGeom>
          <a:solidFill>
            <a:srgbClr val="0B2E5E"/>
          </a:solidFill>
          <a:ln w="12700">
            <a:solidFill>
              <a:srgbClr val="0B2E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E3F0FF"/>
            </a:gs>
            <a:gs pos="100000">
              <a:srgbClr val="FFFFFF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E5E"/>
                </a:solidFill>
                <a:latin typeface="맑은 고딕"/>
                <a:ea typeface="맑은 고딕"/>
              </a:rPr>
              <a:t>사업 설명 — 시장 · 수익 모델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1206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783080"/>
            <a:ext cx="457200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1E6FE0"/>
                </a:solidFill>
                <a:latin typeface="맑은 고딕"/>
                <a:ea typeface="맑은 고딕"/>
              </a:rPr>
              <a:t>시장 기회</a:t>
            </a:r>
          </a:p>
          <a:p>
            <a:pPr algn="l"/>
            <a:r>
              <a:rPr sz="1400" b="0">
                <a:solidFill>
                  <a:srgbClr val="1A1F36"/>
                </a:solidFill>
                <a:latin typeface="맑은 고딕"/>
                <a:ea typeface="맑은 고딕"/>
              </a:rPr>
              <a:t>· 글로벌 여행·관광 통역 수요 급증</a:t>
            </a:r>
          </a:p>
          <a:p>
            <a:pPr algn="l"/>
            <a:r>
              <a:rPr sz="1400" b="0">
                <a:solidFill>
                  <a:srgbClr val="1A1F36"/>
                </a:solidFill>
                <a:latin typeface="맑은 고딕"/>
                <a:ea typeface="맑은 고딕"/>
              </a:rPr>
              <a:t>· 외국인 거주·의료·행정 응대 통역</a:t>
            </a:r>
          </a:p>
          <a:p>
            <a:pPr algn="l"/>
            <a:r>
              <a:rPr sz="1400" b="0">
                <a:solidFill>
                  <a:srgbClr val="1A1F36"/>
                </a:solidFill>
                <a:latin typeface="맑은 고딕"/>
                <a:ea typeface="맑은 고딕"/>
              </a:rPr>
              <a:t>· 비대면 글로벌 커뮤니케이션 확대</a:t>
            </a:r>
          </a:p>
          <a:p>
            <a:pPr algn="l"/>
            <a:r>
              <a:rPr sz="800" b="0">
                <a:solidFill>
                  <a:srgbClr val="1A1F36"/>
                </a:solidFill>
                <a:latin typeface="맑은 고딕"/>
                <a:ea typeface="맑은 고딕"/>
              </a:rPr>
              <a:t/>
            </a:r>
          </a:p>
          <a:p>
            <a:pPr algn="l"/>
            <a:r>
              <a:rPr sz="1900" b="1">
                <a:solidFill>
                  <a:srgbClr val="FF8A5B"/>
                </a:solidFill>
                <a:latin typeface="맑은 고딕"/>
                <a:ea typeface="맑은 고딕"/>
              </a:rPr>
              <a:t>차별화 포인트</a:t>
            </a:r>
          </a:p>
          <a:p>
            <a:pPr algn="l"/>
            <a:r>
              <a:rPr sz="1400" b="0">
                <a:solidFill>
                  <a:srgbClr val="1A1F36"/>
                </a:solidFill>
                <a:latin typeface="맑은 고딕"/>
                <a:ea typeface="맑은 고딕"/>
              </a:rPr>
              <a:t>· 초저지연 실시간 통역 파이프라인</a:t>
            </a:r>
          </a:p>
          <a:p>
            <a:pPr algn="l"/>
            <a:r>
              <a:rPr sz="1400" b="0">
                <a:solidFill>
                  <a:srgbClr val="1A1F36"/>
                </a:solidFill>
                <a:latin typeface="맑은 고딕"/>
                <a:ea typeface="맑은 고딕"/>
              </a:rPr>
              <a:t>· 다채널(대면/통화/채팅) 단일 앱</a:t>
            </a:r>
          </a:p>
          <a:p>
            <a:pPr algn="l"/>
            <a:r>
              <a:rPr sz="1400" b="0">
                <a:solidFill>
                  <a:srgbClr val="1A1F36"/>
                </a:solidFill>
                <a:latin typeface="맑은 고딕"/>
                <a:ea typeface="맑은 고딕"/>
              </a:rPr>
              <a:t>· 소리새 = 개인 AI 통역 동반자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554480"/>
            <a:ext cx="51206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0" y="1783080"/>
            <a:ext cx="457200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19C37D"/>
                </a:solidFill>
                <a:latin typeface="맑은 고딕"/>
                <a:ea typeface="맑은 고딕"/>
              </a:rPr>
              <a:t>수익 모델</a:t>
            </a:r>
          </a:p>
          <a:p>
            <a:pPr algn="l"/>
            <a:r>
              <a:rPr sz="1400" b="0">
                <a:solidFill>
                  <a:srgbClr val="1A1F36"/>
                </a:solidFill>
                <a:latin typeface="맑은 고딕"/>
                <a:ea typeface="맑은 고딕"/>
              </a:rPr>
              <a:t>· Free — 기본 번역·일 사용량 제한</a:t>
            </a:r>
          </a:p>
          <a:p>
            <a:pPr algn="l"/>
            <a:r>
              <a:rPr sz="1400" b="0">
                <a:solidFill>
                  <a:srgbClr val="1A1F36"/>
                </a:solidFill>
                <a:latin typeface="맑은 고딕"/>
                <a:ea typeface="맑은 고딕"/>
              </a:rPr>
              <a:t>· Pro(개인 구독) — 무제한·고품질 음성</a:t>
            </a:r>
          </a:p>
          <a:p>
            <a:pPr algn="l"/>
            <a:r>
              <a:rPr sz="1400" b="0">
                <a:solidFill>
                  <a:srgbClr val="1A1F36"/>
                </a:solidFill>
                <a:latin typeface="맑은 고딕"/>
                <a:ea typeface="맑은 고딕"/>
              </a:rPr>
              <a:t>· Business — 기업·여행사·콜센터</a:t>
            </a:r>
          </a:p>
          <a:p>
            <a:pPr algn="l"/>
            <a:r>
              <a:rPr sz="1400" b="0">
                <a:solidFill>
                  <a:srgbClr val="1A1F36"/>
                </a:solidFill>
                <a:latin typeface="맑은 고딕"/>
                <a:ea typeface="맑은 고딕"/>
              </a:rPr>
              <a:t>· API/B2B — 통역 엔진 라이선스</a:t>
            </a:r>
          </a:p>
          <a:p>
            <a:pPr algn="l"/>
            <a:r>
              <a:rPr sz="800" b="0">
                <a:solidFill>
                  <a:srgbClr val="1A1F36"/>
                </a:solidFill>
                <a:latin typeface="맑은 고딕"/>
                <a:ea typeface="맑은 고딕"/>
              </a:rPr>
              <a:t/>
            </a:r>
          </a:p>
          <a:p>
            <a:pPr algn="l"/>
            <a:r>
              <a:rPr sz="1900" b="1">
                <a:solidFill>
                  <a:srgbClr val="1E6FE0"/>
                </a:solidFill>
                <a:latin typeface="맑은 고딕"/>
                <a:ea typeface="맑은 고딕"/>
              </a:rPr>
              <a:t>로드맵</a:t>
            </a:r>
          </a:p>
          <a:p>
            <a:pPr algn="l"/>
            <a:r>
              <a:rPr sz="1400" b="0">
                <a:solidFill>
                  <a:srgbClr val="1A1F36"/>
                </a:solidFill>
                <a:latin typeface="맑은 고딕"/>
                <a:ea typeface="맑은 고딕"/>
              </a:rPr>
              <a:t>· 통역 품질·언어 확장 → 소리새 고도화</a:t>
            </a:r>
          </a:p>
          <a:p>
            <a:pPr algn="l"/>
            <a:r>
              <a:rPr sz="1400" b="0">
                <a:solidFill>
                  <a:srgbClr val="1A1F36"/>
                </a:solidFill>
                <a:latin typeface="맑은 고딕"/>
                <a:ea typeface="맑은 고딕"/>
              </a:rPr>
              <a:t>· B2B 채널(여행/의료/공공) 확대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E3F0FF"/>
            </a:gs>
            <a:gs pos="100000">
              <a:srgbClr val="FFFFFF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377440"/>
            <a:ext cx="1219169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800" b="1">
                <a:solidFill>
                  <a:srgbClr val="0B2E5E"/>
                </a:solidFill>
                <a:latin typeface="맑은 고딕"/>
                <a:ea typeface="맑은 고딕"/>
              </a:rPr>
              <a:t>WorldLinco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566160"/>
            <a:ext cx="121916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1E6FE0"/>
                </a:solidFill>
                <a:latin typeface="맑은 고딕"/>
                <a:ea typeface="맑은 고딕"/>
              </a:rPr>
              <a:t>언어의 벽을 넘어, 세상을 연결합니다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